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showSpecialPlsOnTitleSld="1" rtl="0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slideViewPr/>
  <p:outlineViewPr/>
  <p:notesTextViewPr/>
  <p:sorterViewPr/>
  <p:guideLst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<p:sp>
      <p:nvSpPr><p:cNvPr id="2" name="TextBox"/><p:cNvSpPr txBox="1"/><p:nvPr/></p:nvSpPr>
      <p:spPr><a:xfrm><a:off x="600000" y="180000"/><a:ext cx="10900000" cy="420000"/></a:xfrm><a:prstGeom prst="rect"><a:avLst/></a:prstGeom><a:noFill/><a:ln w="0"><a:solidFill><a:srgbClr val="FFFFFF"/></a:solidFill></a:ln></p:spPr>
      <p:txBody><a:bodyPr wrap="square" lIns="91440" tIns="91440" rIns="91440" bIns="91440" anchor="ctr"/><a:lstStyle/><a:p><a:pPr algn="ctr"/><a:r><a:rPr lang="en-US" sz="2600" b="1" i="0" dirty="0" smtClean="0"><a:solidFill><a:srgbClr val="223B70"/></a:solidFill><a:latin typeface="Times New Roman"/></a:rPr><a:t>Parallel and Perpendicular Components Play Distinct Roles</a:t></a:r><a:endParaRPr lang="en-US" sz="2600" b="1" i="0"><a:solidFill><a:srgbClr val="223B70"/></a:solidFill><a:latin typeface="Times New Roman"/></a:endParaRPr></a:p></p:txBody>
    </p:sp><p:sp>
      <p:nvSpPr><p:cNvPr id="3" name="TextBox"/><p:cNvSpPr txBox="1"/><p:nvPr/></p:nvSpPr>
      <p:spPr><a:xfrm><a:off x="600000" y="520000"/><a:ext cx="10900000" cy="220000"/></a:xfrm><a:prstGeom prst="rect"><a:avLst/></a:prstGeom><a:noFill/><a:ln w="0"><a:solidFill><a:srgbClr val="FFFFFF"/></a:solidFill></a:ln></p:spPr>
      <p:txBody><a:bodyPr wrap="square" lIns="91440" tIns="91440" rIns="91440" bIns="91440" anchor="ctr"/><a:lstStyle/><a:p><a:pPr algn="ctr"/><a:r><a:rPr lang="en-US" sz="1200" b="0" i="1" dirty="0" smtClean="0"><a:solidFill><a:srgbClr val="6E6E6E"/></a:solidFill><a:latin typeface="Times New Roman"/></a:rPr><a:t>define interpret in attention intervene conclude</a:t></a:r><a:endParaRPr lang="en-US" sz="1200" b="0" i="1"><a:solidFill><a:srgbClr val="6E6E6E"/></a:solidFill><a:latin typeface="Times New Roman"/></a:endParaRPr></a:p></p:txBody>
    </p:sp><p:sp>
      <p:nvSpPr><p:cNvPr id="4" name="Panel A"/><p:cNvSpPr txBox="1"/><p:nvPr/></p:nvSpPr>
      <p:spPr><a:xfrm><a:off x="700000" y="1100000"/><a:ext cx="3100000" cy="2050000"/></a:xfrm><a:prstGeom prst="roundRect"><a:avLst/></a:prstGeom><a:solidFill><a:srgbClr val="F9FBFF"/></a:solidFill><a:ln w="25400"><a:solidFill><a:srgbClr val="3E73C1"/></a:solidFill></a:ln></p:spPr>
      
    </p:sp><p:sp>
      <p:nvSpPr><p:cNvPr id="5" name="TextBox"/><p:cNvSpPr txBox="1"/><p:nvPr/></p:nvSpPr>
      <p:spPr><a:xfrm><a:off x="760000" y="1160000"/><a:ext cx="300000" cy="300000"/></a:xfrm><a:prstGeom prst="ellipse"><a:avLst/></a:prstGeom><a:solidFill><a:srgbClr val="3E73C1"/></a:solidFill><a:ln w="12700"><a:solidFill><a:srgbClr val="3E73C1"/></a:solidFill></a:ln></p:spPr>
      <p:txBody><a:bodyPr wrap="square" lIns="0" tIns="0" rIns="0" bIns="0" anchor="ctr"/><a:lstStyle/><a:p><a:pPr algn="ctr"/><a:r><a:rPr lang="en-US" sz="1800" b="1" i="0" dirty="0" smtClean="0"><a:solidFill><a:srgbClr val="FFFFFF"/></a:solidFill><a:latin typeface="Times New Roman"/></a:rPr><a:t>A</a:t></a:r><a:endParaRPr lang="en-US" sz="1800" b="1" i="0"><a:solidFill><a:srgbClr val="FFFFFF"/></a:solidFill><a:latin typeface="Times New Roman"/></a:endParaRPr></a:p></p:txBody>
    </p:sp><p:sp>
      <p:nvSpPr><p:cNvPr id="6" name="TextBox"/><p:cNvSpPr txBox="1"/><p:nvPr/></p:nvSpPr>
      <p:spPr><a:xfrm><a:off x="1150000" y="1120000"/><a:ext cx="2500000" cy="300000"/></a:xfrm><a:prstGeom prst="rect"><a:avLst/></a:prstGeom><a:noFill/><a:ln w="0"><a:solidFill><a:srgbClr val="FFFFFF"/></a:solidFill></a:ln></p:spPr>
      <p:txBody><a:bodyPr wrap="square" lIns="91440" tIns="91440" rIns="91440" bIns="91440" anchor="ctr"/><a:lstStyle/><a:p><a:pPr algn="l"/><a:r><a:rPr lang="en-US" sz="1700" b="1" i="0" dirty="0" smtClean="0"><a:solidFill><a:srgbClr val="223B70"/></a:solidFill><a:latin typeface="Times New Roman"/></a:rPr><a:t>A. Geometric</a:t></a:r><a:endParaRPr lang="en-US" sz="1700" b="1" i="0"><a:solidFill><a:srgbClr val="223B70"/></a:solidFill><a:latin typeface="Times New Roman"/></a:endParaRPr></a:p><a:p><a:pPr algn="l"/><a:r><a:rPr lang="en-US" sz="1700" b="1" i="0" dirty="0" smtClean="0"><a:solidFill><a:srgbClr val="223B70"/></a:solidFill><a:latin typeface="Times New Roman"/></a:rPr><a:t>Decomposition</a:t></a:r><a:endParaRPr lang="en-US" sz="1700" b="1" i="0"><a:solidFill><a:srgbClr val="223B70"/></a:solidFill><a:latin typeface="Times New Roman"/></a:endParaRPr></a:p></p:txBody>
    </p:sp><p:sp>
      <p:nvSpPr><p:cNvPr id="7" name="TextBox"/><p:cNvSpPr txBox="1"/><p:nvPr/></p:nvSpPr>
      <p:spPr><a:xfrm><a:off x="830000" y="1500000"/><a:ext cx="2550000" cy="820000"/></a:xfrm><a:prstGeom prst="roundRect"><a:avLst/></a:prstGeom><a:solidFill><a:srgbClr val="FFFFFF"/></a:solidFill><a:ln w="12700"><a:solidFill><a:srgbClr val="D0D0D0"/></a:solidFill></a:ln></p:spPr>
      <p:txBody><a:bodyPr wrap="square" lIns="91440" tIns="91440" rIns="91440" bIns="91440" anchor="ctr"/><a:lstStyle/><a:p><a:pPr algn="ctr"/><a:r><a:rPr lang="en-US" sz="1500" b="1" i="0" dirty="0" smtClean="0"><a:solidFill><a:srgbClr val="223B70"/></a:solidFill><a:latin typeface="Times New Roman"/></a:rPr><a:t>Δ = Δ∥ + Δ⊥</a:t></a:r><a:endParaRPr lang="en-US" sz="1500" b="1" i="0"><a:solidFill><a:srgbClr val="223B70"/></a:solidFill><a:latin typeface="Times New Roman"/></a:endParaRPr></a:p><a:p><a:pPr algn="ctr"/><a:r><a:rPr lang="en-US" sz="1500" b="1" i="0" dirty="0" smtClean="0"><a:solidFill><a:srgbClr val="223B70"/></a:solidFill><a:latin typeface="Times New Roman"/></a:rPr><a:t>Δ∥ = αx</a:t></a:r><a:endParaRPr lang="en-US" sz="1500" b="1" i="0"><a:solidFill><a:srgbClr val="223B70"/></a:solidFill><a:latin typeface="Times New Roman"/></a:endParaRPr></a:p><a:p><a:pPr algn="ctr"/><a:r><a:rPr lang="en-US" sz="1500" b="1" i="0" dirty="0" smtClean="0"><a:solidFill><a:srgbClr val="223B70"/></a:solidFill><a:latin typeface="Times New Roman"/></a:rPr><a:t>Δ⊥ ⟂ x</a:t></a:r><a:endParaRPr lang="en-US" sz="1500" b="1" i="0"><a:solidFill><a:srgbClr val="223B70"/></a:solidFill><a:latin typeface="Times New Roman"/></a:endParaRPr></a:p></p:txBody>
    </p:sp><p:sp>
      <p:nvSpPr><p:cNvPr id="8" name="TextBox"/><p:cNvSpPr txBox="1"/><p:nvPr/></p:nvSpPr>
      <p:spPr><a:xfrm><a:off x="830000" y="2370000"/><a:ext cx="1200000" cy="220000"/></a:xfrm><a:prstGeom prst="roundRect"><a:avLst/></a:prstGeom><a:solidFill><a:srgbClr val="FFF1E2"/></a:solidFill><a:ln w="12700"><a:solidFill><a:srgbClr val="F39A12"/></a:solidFill></a:ln></p:spPr>
      <p:txBody><a:bodyPr wrap="square" lIns="91440" tIns="91440" rIns="91440" bIns="91440" anchor="ctr"/><a:lstStyle/><a:p><a:pPr algn="ctr"/><a:r><a:rPr lang="en-US" sz="1200" b="1" i="0" dirty="0" smtClean="0"><a:solidFill><a:srgbClr val="D97B0D"/></a:solidFill><a:latin typeface="Times New Roman"/></a:rPr><a:t>Parallel: scaling-like</a:t></a:r><a:endParaRPr lang="en-US" sz="1200" b="1" i="0"><a:solidFill><a:srgbClr val="D97B0D"/></a:solidFill><a:latin typeface="Times New Roman"/></a:endParaRPr></a:p></p:txBody>
    </p:sp><p:sp>
      <p:nvSpPr><p:cNvPr id="9" name="TextBox"/><p:cNvSpPr txBox="1"/><p:nvPr/></p:nvSpPr>
      <p:spPr><a:xfrm><a:off x="2150000" y="2370000"/><a:ext cx="1200000" cy="220000"/></a:xfrm><a:prstGeom prst="roundRect"><a:avLst/></a:prstGeom><a:solidFill><a:srgbClr val="F2ECFF"/></a:solidFill><a:ln w="12700"><a:solidFill><a:srgbClr val="7B5AC7"/></a:solidFill></a:ln></p:spPr>
      <p:txBody><a:bodyPr wrap="square" lIns="91440" tIns="91440" rIns="91440" bIns="91440" anchor="ctr"/><a:lstStyle/><a:p><a:pPr algn="ctr"/><a:r><a:rPr lang="en-US" sz="1200" b="1" i="0" dirty="0" smtClean="0"><a:solidFill><a:srgbClr val="6A4FB0"/></a:solidFill><a:latin typeface="Times New Roman"/></a:rPr><a:t>Perpendicular: direction-changing</a:t></a:r><a:endParaRPr lang="en-US" sz="1200" b="1" i="0"><a:solidFill><a:srgbClr val="6A4FB0"/></a:solidFill><a:latin typeface="Times New Roman"/></a:endParaRPr></a:p></p:txBody>
    </p:sp><p:sp>
      <p:nvSpPr><p:cNvPr id="10" name="Panel B"/><p:cNvSpPr txBox="1"/><p:nvPr/></p:nvSpPr>
      <p:spPr><a:xfrm><a:off x="700000" y="3250000"/><a:ext cx="3100000" cy="2300000"/></a:xfrm><a:prstGeom prst="roundRect"><a:avLst/></a:prstGeom><a:solidFill><a:srgbClr val="F9FBFF"/></a:solidFill><a:ln w="25400"><a:solidFill><a:srgbClr val="3E73C1"/></a:solidFill></a:ln></p:spPr>
      
    </p:sp><p:sp>
      <p:nvSpPr><p:cNvPr id="11" name="TextBox"/><p:cNvSpPr txBox="1"/><p:nvPr/></p:nvSpPr>
      <p:spPr><a:xfrm><a:off x="760000" y="3310000"/><a:ext cx="300000" cy="300000"/></a:xfrm><a:prstGeom prst="ellipse"><a:avLst/></a:prstGeom><a:solidFill><a:srgbClr val="3E73C1"/></a:solidFill><a:ln w="12700"><a:solidFill><a:srgbClr val="3E73C1"/></a:solidFill></a:ln></p:spPr>
      <p:txBody><a:bodyPr wrap="square" lIns="0" tIns="0" rIns="0" bIns="0" anchor="ctr"/><a:lstStyle/><a:p><a:pPr algn="ctr"/><a:r><a:rPr lang="en-US" sz="1800" b="1" i="0" dirty="0" smtClean="0"><a:solidFill><a:srgbClr val="FFFFFF"/></a:solidFill><a:latin typeface="Times New Roman"/></a:rPr><a:t>B</a:t></a:r><a:endParaRPr lang="en-US" sz="1800" b="1" i="0"><a:solidFill><a:srgbClr val="FFFFFF"/></a:solidFill><a:latin typeface="Times New Roman"/></a:endParaRPr></a:p></p:txBody>
    </p:sp><p:sp>
      <p:nvSpPr><p:cNvPr id="12" name="TextBox"/><p:cNvSpPr txBox="1"/><p:nvPr/></p:nvSpPr>
      <p:spPr><a:xfrm><a:off x="1150000" y="3270000"/><a:ext cx="2600000" cy="300000"/></a:xfrm><a:prstGeom prst="rect"><a:avLst/></a:prstGeom><a:noFill/><a:ln w="0"><a:solidFill><a:srgbClr val="FFFFFF"/></a:solidFill></a:ln></p:spPr>
      <p:txBody><a:bodyPr wrap="square" lIns="91440" tIns="91440" rIns="91440" bIns="91440" anchor="ctr"/><a:lstStyle/><a:p><a:pPr algn="l"/><a:r><a:rPr lang="en-US" sz="1600" b="1" i="0" dirty="0" smtClean="0"><a:solidFill><a:srgbClr val="223B70"/></a:solidFill><a:latin typeface="Times New Roman"/></a:rPr><a:t>B. Attention / Value-Based</a:t></a:r><a:endParaRPr lang="en-US" sz="1600" b="1" i="0"><a:solidFill><a:srgbClr val="223B70"/></a:solidFill><a:latin typeface="Times New Roman"/></a:endParaRPr></a:p><a:p><a:pPr algn="l"/><a:r><a:rPr lang="en-US" sz="1600" b="1" i="0" dirty="0" smtClean="0"><a:solidFill><a:srgbClr val="223B70"/></a:solidFill><a:latin typeface="Times New Roman"/></a:rPr><a:t>Interpretation</a:t></a:r><a:endParaRPr lang="en-US" sz="1600" b="1" i="0"><a:solidFill><a:srgbClr val="223B70"/></a:solidFill><a:latin typeface="Times New Roman"/></a:endParaRPr></a:p></p:txBody>
    </p:sp><p:sp>
      <p:nvSpPr><p:cNvPr id="13" name="TextBox"/><p:cNvSpPr txBox="1"/><p:nvPr/></p:nvSpPr>
      <p:spPr><a:xfrm><a:off x="900000" y="3680000"/><a:ext cx="2600000" cy="250000"/></a:xfrm><a:prstGeom prst="rect"><a:avLst/></a:prstGeom><a:noFill/><a:ln w="0"><a:solidFill><a:srgbClr val="FFFFFF"/></a:solidFill></a:ln></p:spPr>
      <p:txBody><a:bodyPr wrap="square" lIns="91440" tIns="91440" rIns="91440" bIns="91440" anchor="ctr"/><a:lstStyle/><a:p><a:pPr algn="ctr"/><a:r><a:rPr lang="en-US" sz="1100" b="0" i="0" dirty="0" smtClean="0"><a:solidFill><a:srgbClr val="4A4A4A"/></a:solidFill><a:latin typeface="Times New Roman"/></a:rPr><a:t>Diagonal suppression weakens self-copy and redistributes mass off diagonal.</a:t></a:r><a:endParaRPr lang="en-US" sz="1100" b="0" i="0"><a:solidFill><a:srgbClr val="4A4A4A"/></a:solidFill><a:latin typeface="Times New Roman"/></a:endParaRPr></a:p></p:txBody>
    </p:sp><p:pic>
      <p:nvPicPr><p:cNvPr id="14" name="Baseline Schematic"/><p:cNvPicPr><a:picLocks noChangeAspect="1"/></p:cNvPicPr><p:nvPr/></p:nvPicPr>
      <p:blipFill><a:blip r:embed="rId2"/><a:stretch><a:fillRect/></a:stretch></p:blipFill>
      <p:spPr><a:xfrm><a:off x="850000" y="4020000"/><a:ext cx="950000" cy="950000"/></a:xfrm><a:prstGeom prst="rect"><a:avLst/></a:prstGeom></p:spPr>
    </p:pic><p:sp>
      <p:nvSpPr><p:cNvPr id="15" name="TextBox"/><p:cNvSpPr txBox="1"/><p:nvPr/></p:nvSpPr>
      <p:spPr><a:xfrm><a:off x="1830000" y="4300000"/><a:ext cx="250000" cy="200000"/></a:xfrm><a:prstGeom prst="rect"><a:avLst/></a:prstGeom><a:noFill/><a:ln w="0"><a:solidFill><a:srgbClr val="FFFFFF"/></a:solidFill></a:ln></p:spPr>
      <p:txBody><a:bodyPr wrap="square" lIns="0" tIns="0" rIns="0" bIns="0" anchor="ctr"/><a:lstStyle/><a:p><a:pPr algn="ctr"/><a:r><a:rPr lang="en-US" sz="2200" b="1" i="0" dirty="0" smtClean="0"><a:solidFill><a:srgbClr val="7A7A7A"/></a:solidFill><a:latin typeface="Times New Roman"/></a:rPr><a:t></a:t></a:r><a:endParaRPr lang="en-US" sz="2200" b="1" i="0"><a:solidFill><a:srgbClr val="7A7A7A"/></a:solidFill><a:latin typeface="Times New Roman"/></a:endParaRPr></a:p></p:txBody>
    </p:sp><p:pic>
      <p:nvPicPr><p:cNvPr id="16" name="Suppressed Schematic"/><p:cNvPicPr><a:picLocks noChangeAspect="1"/></p:cNvPicPr><p:nvPr/></p:nvPicPr>
      <p:blipFill><a:blip r:embed="rId3"/><a:stretch><a:fillRect/></a:stretch></p:blipFill>
      <p:spPr><a:xfrm><a:off x="2100000" y="4020000"/><a:ext cx="950000" cy="950000"/></a:xfrm><a:prstGeom prst="rect"><a:avLst/></a:prstGeom></p:spPr>
    </p:pic><p:sp>
      <p:nvSpPr><p:cNvPr id="17" name="TextBox"/><p:cNvSpPr txBox="1"/><p:nvPr/></p:nvSpPr>
      <p:spPr><a:xfrm><a:off x="900000" y="5070000"/><a:ext cx="2200000" cy="360000"/></a:xfrm><a:prstGeom prst="roundRect"><a:avLst/></a:prstGeom><a:solidFill><a:srgbClr val="FFF8F0"/></a:solidFill><a:ln w="12700"><a:solidFill><a:srgbClr val="E0A050"/></a:solidFill></a:ln></p:spPr>
      <p:txBody><a:bodyPr wrap="square" lIns="91440" tIns="91440" rIns="91440" bIns="91440" anchor="ctr"/><a:lstStyle/><a:p><a:pPr algn="ctr"/><a:r><a:rPr lang="en-US" sz="1100" b="1" i="0" dirty="0" smtClean="0"><a:solidFill><a:srgbClr val="9A5E10"/></a:solidFill><a:latin typeface="Times New Roman"/></a:rPr><a:t>Key observation: suppressing the diagonal reduces self-routing and pushes attention mass away from self-dominant positions.</a:t></a:r><a:endParaRPr lang="en-US" sz="1100" b="1" i="0"><a:solidFill><a:srgbClr val="9A5E10"/></a:solidFill><a:latin typeface="Times New Roman"/></a:endParaRPr></a:p></p:txBody>
    </p:sp><p:sp>
      <p:nvSpPr><p:cNvPr id="18" name="Panel C"/><p:cNvSpPr txBox="1"/><p:nvPr/></p:nvSpPr>
      <p:spPr><a:xfrm><a:off x="3900000" y="1100000"/><a:ext cx="7600000" cy="2100000"/></a:xfrm><a:prstGeom prst="roundRect"><a:avLst/></a:prstGeom><a:solidFill><a:srgbClr val="F9FBFF"/></a:solidFill><a:ln w="25400"><a:solidFill><a:srgbClr val="3E73C1"/></a:solidFill></a:ln></p:spPr>
      
    </p:sp><p:sp>
      <p:nvSpPr><p:cNvPr id="19" name="TextBox"/><p:cNvSpPr txBox="1"/><p:nvPr/></p:nvSpPr>
      <p:spPr><a:xfrm><a:off x="3980000" y="1160000"/><a:ext cx="300000" cy="300000"/></a:xfrm><a:prstGeom prst="ellipse"><a:avLst/></a:prstGeom><a:solidFill><a:srgbClr val="3E73C1"/></a:solidFill><a:ln w="12700"><a:solidFill><a:srgbClr val="3E73C1"/></a:solidFill></a:ln></p:spPr>
      <p:txBody><a:bodyPr wrap="square" lIns="0" tIns="0" rIns="0" bIns="0" anchor="ctr"/><a:lstStyle/><a:p><a:pPr algn="ctr"/><a:r><a:rPr lang="en-US" sz="1800" b="1" i="0" dirty="0" smtClean="0"><a:solidFill><a:srgbClr val="FFFFFF"/></a:solidFill><a:latin typeface="Times New Roman"/></a:rPr><a:t>C</a:t></a:r><a:endParaRPr lang="en-US" sz="1800" b="1" i="0"><a:solidFill><a:srgbClr val="FFFFFF"/></a:solidFill><a:latin typeface="Times New Roman"/></a:endParaRPr></a:p></p:txBody>
    </p:sp><p:sp>
      <p:nvSpPr><p:cNvPr id="20" name="TextBox"/><p:cNvSpPr txBox="1"/><p:nvPr/></p:nvSpPr>
      <p:spPr><a:xfrm><a:off x="4350000" y="1120000"/><a:ext cx="4200000" cy="260000"/></a:xfrm><a:prstGeom prst="rect"><a:avLst/></a:prstGeom><a:noFill/><a:ln w="0"><a:solidFill><a:srgbClr val="FFFFFF"/></a:solidFill></a:ln></p:spPr>
      <p:txBody><a:bodyPr wrap="square" lIns="91440" tIns="91440" rIns="91440" bIns="91440" anchor="ctr"/><a:lstStyle/><a:p><a:pPr algn="l"/><a:r><a:rPr lang="en-US" sz="1700" b="1" i="0" dirty="0" smtClean="0"><a:solidFill><a:srgbClr val="223B70"/></a:solidFill><a:latin typeface="Times New Roman"/></a:rPr><a:t>C. Manipulating the Perpendicular Component</a:t></a:r><a:endParaRPr lang="en-US" sz="1700" b="1" i="0"><a:solidFill><a:srgbClr val="223B70"/></a:solidFill><a:latin typeface="Times New Roman"/></a:endParaRPr></a:p></p:txBody>
    </p:sp><p:sp>
      <p:nvSpPr><p:cNvPr id="21" name="TextBox"/><p:cNvSpPr txBox="1"/><p:nvPr/></p:nvSpPr>
      <p:spPr><a:xfrm><a:off x="4050000" y="1480000"/><a:ext cx="7100000" cy="220000"/></a:xfrm><a:prstGeom prst="rect"><a:avLst/></a:prstGeom><a:solidFill><a:srgbClr val="F4EFFF"/></a:solidFill><a:ln w="12700"><a:solidFill><a:srgbClr val="8C6AD2"/></a:solidFill></a:ln></p:spPr>
      <p:txBody><a:bodyPr wrap="square" lIns="91440" tIns="91440" rIns="91440" bIns="91440" anchor="ctr"/><a:lstStyle/><a:p><a:pPr algn="ctr"/><a:r><a:rPr lang="en-US" sz="1200" b="1" i="0" dirty="0" smtClean="0"><a:solidFill><a:srgbClr val="7B5AC7"/></a:solidFill><a:latin typeface="Times New Roman"/></a:rPr><a:t>Intervention: stretch or shrink Δ⊥ while keeping the rest of the update fixed</a:t></a:r><a:endParaRPr lang="en-US" sz="1200" b="1" i="0"><a:solidFill><a:srgbClr val="7B5AC7"/></a:solidFill><a:latin typeface="Times New Roman"/></a:endParaRPr></a:p></p:txBody>
    </p:sp><p:sp>
      <p:nvSpPr><p:cNvPr id="22" name="TextBox"/><p:cNvSpPr txBox="1"/><p:nvPr/></p:nvSpPr>
      <p:spPr><a:xfrm><a:off x="4300000" y="1770000"/><a:ext cx="1750000" cy="560000"/></a:xfrm><a:prstGeom prst="roundRect"><a:avLst/></a:prstGeom><a:solidFill><a:srgbClr val="FFFFFF"/></a:solidFill><a:ln w="12700"><a:solidFill><a:srgbClr val="D0D0D0"/></a:solidFill></a:ln></p:spPr>
      <p:txBody><a:bodyPr wrap="square" lIns="91440" tIns="91440" rIns="91440" bIns="91440" anchor="ctr"/><a:lstStyle/><a:p><a:pPr algn="ctr"/><a:r><a:rPr lang="en-US" sz="1350" b="1" i="0" dirty="0" smtClean="0"><a:solidFill><a:srgbClr val="3F3F3F"/></a:solidFill><a:latin typeface="Times New Roman"/></a:rPr><a:t>baseline    stretch Δ⊥    shrink Δ⊥</a:t></a:r><a:endParaRPr lang="en-US" sz="1350" b="1" i="0"><a:solidFill><a:srgbClr val="3F3F3F"/></a:solidFill><a:latin typeface="Times New Roman"/></a:endParaRPr></a:p></p:txBody>
    </p:sp><p:sp>
      <p:nvSpPr><p:cNvPr id="23" name="TextBox"/><p:cNvSpPr txBox="1"/><p:nvPr/></p:nvSpPr>
      <p:spPr><a:xfrm><a:off x="6150000" y="1770000"/><a:ext cx="1750000" cy="560000"/></a:xfrm><a:prstGeom prst="roundRect"><a:avLst/></a:prstGeom><a:solidFill><a:srgbClr val="FFFFFF"/></a:solidFill><a:ln w="12700"><a:solidFill><a:srgbClr val="D0D0D0"/></a:solidFill></a:ln></p:spPr>
      <p:txBody><a:bodyPr wrap="square" lIns="91440" tIns="91440" rIns="91440" bIns="91440" anchor="ctr"/><a:lstStyle/><a:p><a:pPr algn="ctr"/><a:r><a:rPr lang="en-US" sz="1200" b="0" i="0" dirty="0" smtClean="0"><a:solidFill><a:srgbClr val="3F3F3F"/></a:solidFill><a:latin typeface="Times New Roman"/></a:rPr><a:t>change direction</a:t></a:r><a:endParaRPr lang="en-US" sz="1200" b="0" i="0"><a:solidFill><a:srgbClr val="3F3F3F"/></a:solidFill><a:latin typeface="Times New Roman"/></a:endParaRPr></a:p><a:p><a:pPr algn="ctr"/><a:r><a:rPr lang="en-US" sz="1200" b="0" i="0" dirty="0" smtClean="0"><a:solidFill><a:srgbClr val="3F3F3F"/></a:solidFill><a:latin typeface="Times New Roman"/></a:rPr><a:t>more aggressively</a:t></a:r><a:endParaRPr lang="en-US" sz="1200" b="0" i="0"><a:solidFill><a:srgbClr val="3F3F3F"/></a:solidFill><a:latin typeface="Times New Roman"/></a:endParaRPr></a:p></p:txBody>
    </p:sp><p:sp>
      <p:nvSpPr><p:cNvPr id="24" name="TextBox"/><p:cNvSpPr txBox="1"/><p:nvPr/></p:nvSpPr>
      <p:spPr><a:xfrm><a:off x="8000000" y="1770000"/><a:ext cx="1200000" cy="560000"/></a:xfrm><a:prstGeom prst="roundRect"><a:avLst/></a:prstGeom><a:solidFill><a:srgbClr val="FFFFFF"/></a:solidFill><a:ln w="12700"><a:solidFill><a:srgbClr val="D0D0D0"/></a:solidFill></a:ln></p:spPr>
      <p:txBody><a:bodyPr wrap="square" lIns="91440" tIns="91440" rIns="91440" bIns="91440" anchor="ctr"/><a:lstStyle/><a:p><a:pPr algn="ctr"/><a:r><a:rPr lang="en-US" sz="1200" b="0" i="0" dirty="0" smtClean="0"><a:solidFill><a:srgbClr val="3F3F3F"/></a:solidFill><a:latin typeface="Times New Roman"/></a:rPr><a:t>or weaken the</a:t></a:r><a:endParaRPr lang="en-US" sz="1200" b="0" i="0"><a:solidFill><a:srgbClr val="3F3F3F"/></a:solidFill><a:latin typeface="Times New Roman"/></a:endParaRPr></a:p><a:p><a:pPr algn="ctr"/><a:r><a:rPr lang="en-US" sz="1200" b="0" i="0" dirty="0" smtClean="0"><a:solidFill><a:srgbClr val="3F3F3F"/></a:solidFill><a:latin typeface="Times New Roman"/></a:rPr><a:t>directional change</a:t></a:r><a:endParaRPr lang="en-US" sz="1200" b="0" i="0"><a:solidFill><a:srgbClr val="3F3F3F"/></a:solidFill><a:latin typeface="Times New Roman"/></a:endParaRPr></a:p></p:txBody>
    </p:sp><p:sp>
      <p:nvSpPr><p:cNvPr id="25" name="TextBox"/><p:cNvSpPr txBox="1"/><p:nvPr/></p:nvSpPr>
      <p:spPr><a:xfrm><a:off x="4300000" y="2420000"/><a:ext cx="6300000" cy="500000"/></a:xfrm><a:prstGeom prst="roundRect"><a:avLst/></a:prstGeom><a:solidFill><a:srgbClr val="FFF4F4"/></a:solidFill><a:ln w="25400"><a:solidFill><a:srgbClr val="D9534F"/></a:solidFill></a:ln></p:spPr>
      <p:txBody><a:bodyPr wrap="square" lIns="91440" tIns="91440" rIns="91440" bIns="91440" anchor="ctr"/><a:lstStyle/><a:p><a:pPr algn="ctr"/><a:r><a:rPr lang="en-US" sz="1800" b="1" i="0" dirty="0" smtClean="0"><a:solidFill><a:srgbClr val="C84E43"/></a:solidFill><a:latin typeface="Times New Roman"/></a:rPr><a:t>Poor / fragile behavior</a:t></a:r><a:endParaRPr lang="en-US" sz="1800" b="1" i="0"><a:solidFill><a:srgbClr val="C84E43"/></a:solidFill><a:latin typeface="Times New Roman"/></a:endParaRPr></a:p></p:txBody>
    </p:sp><p:sp>
      <p:nvSpPr><p:cNvPr id="26" name="TextBox"/><p:cNvSpPr txBox="1"/><p:nvPr/></p:nvSpPr>
      <p:spPr><a:xfrm><a:off x="4470000" y="2750000"/><a:ext cx="5950000" cy="260000"/></a:xfrm><a:prstGeom prst="rect"><a:avLst/></a:prstGeom><a:noFill/><a:ln w="0"><a:solidFill><a:srgbClr val="FFFFFF"/></a:solidFill></a:ln></p:spPr>
      <p:txBody><a:bodyPr wrap="square" lIns="91440" tIns="91440" rIns="91440" bIns="91440" anchor="ctr"/><a:lstStyle/><a:p><a:pPr algn="ctr"/><a:r><a:rPr lang="en-US" sz="1250" b="1" i="0" dirty="0" smtClean="0"><a:solidFill><a:srgbClr val="C84E43"/></a:solidFill><a:latin typeface="Times New Roman"/></a:rPr><a:t>Performance degrades quickly when Δ⊥ is perturbed.</a:t></a:r><a:endParaRPr lang="en-US" sz="1250" b="1" i="0"><a:solidFill><a:srgbClr val="C84E43"/></a:solidFill><a:latin typeface="Times New Roman"/></a:endParaRPr></a:p></p:txBody>
    </p:sp><p:sp>
      <p:nvSpPr><p:cNvPr id="27" name="Panel D"/><p:cNvSpPr txBox="1"/><p:nvPr/></p:nvSpPr>
      <p:spPr><a:xfrm><a:off x="3900000" y="3300000"/><a:ext cx="7600000" cy="2200000"/></a:xfrm><a:prstGeom prst="roundRect"><a:avLst/></a:prstGeom><a:solidFill><a:srgbClr val="F9FBFF"/></a:solidFill><a:ln w="25400"><a:solidFill><a:srgbClr val="3E73C1"/></a:solidFill></a:ln></p:spPr>
      
    </p:sp><p:sp>
      <p:nvSpPr><p:cNvPr id="28" name="TextBox"/><p:cNvSpPr txBox="1"/><p:nvPr/></p:nvSpPr>
      <p:spPr><a:xfrm><a:off x="3980000" y="3360000"/><a:ext cx="300000" cy="300000"/></a:xfrm><a:prstGeom prst="ellipse"><a:avLst/></a:prstGeom><a:solidFill><a:srgbClr val="3E73C1"/></a:solidFill><a:ln w="12700"><a:solidFill><a:srgbClr val="3E73C1"/></a:solidFill></a:ln></p:spPr>
      <p:txBody><a:bodyPr wrap="square" lIns="0" tIns="0" rIns="0" bIns="0" anchor="ctr"/><a:lstStyle/><a:p><a:pPr algn="ctr"/><a:r><a:rPr lang="en-US" sz="1800" b="1" i="0" dirty="0" smtClean="0"><a:solidFill><a:srgbClr val="FFFFFF"/></a:solidFill><a:latin typeface="Times New Roman"/></a:rPr><a:t>D</a:t></a:r><a:endParaRPr lang="en-US" sz="1800" b="1" i="0"><a:solidFill><a:srgbClr val="FFFFFF"/></a:solidFill><a:latin typeface="Times New Roman"/></a:endParaRPr></a:p></p:txBody>
    </p:sp><p:sp>
      <p:nvSpPr><p:cNvPr id="29" name="TextBox"/><p:cNvSpPr txBox="1"/><p:nvPr/></p:nvSpPr>
      <p:spPr><a:xfrm><a:off x="4350000" y="3320000"/><a:ext cx="4200000" cy="260000"/></a:xfrm><a:prstGeom prst="rect"><a:avLst/></a:prstGeom><a:noFill/><a:ln w="0"><a:solidFill><a:srgbClr val="FFFFFF"/></a:solidFill></a:ln></p:spPr>
      <p:txBody><a:bodyPr wrap="square" lIns="91440" tIns="91440" rIns="91440" bIns="91440" anchor="ctr"/><a:lstStyle/><a:p><a:pPr algn="l"/><a:r><a:rPr lang="en-US" sz="1700" b="1" i="0" dirty="0" smtClean="0"><a:solidFill><a:srgbClr val="223B70"/></a:solidFill><a:latin typeface="Times New Roman"/></a:rPr><a:t>D. Manipulating the Parallel Component</a:t></a:r><a:endParaRPr lang="en-US" sz="1700" b="1" i="0"><a:solidFill><a:srgbClr val="223B70"/></a:solidFill><a:latin typeface="Times New Roman"/></a:endParaRPr></a:p></p:txBody>
    </p:sp><p:sp>
      <p:nvSpPr><p:cNvPr id="30" name="TextBox"/><p:cNvSpPr txBox="1"/><p:nvPr/></p:nvSpPr>
      <p:spPr><a:xfrm><a:off x="4050000" y="3680000"/><a:ext cx="7100000" cy="220000"/></a:xfrm><a:prstGeom prst="rect"><a:avLst/></a:prstGeom><a:solidFill><a:srgbClr val="FFF4E8"/></a:solidFill><a:ln w="12700"><a:solidFill><a:srgbClr val="F39A12"/></a:solidFill></a:ln></p:spPr>
      <p:txBody><a:bodyPr wrap="square" lIns="91440" tIns="91440" rIns="91440" bIns="91440" anchor="ctr"/><a:lstStyle/><a:p><a:pPr algn="ctr"/><a:r><a:rPr lang="en-US" sz="1200" b="1" i="0" dirty="0" smtClean="0"><a:solidFill><a:srgbClr val="D97B0D"/></a:solidFill><a:latin typeface="Times New Roman"/></a:rPr><a:t>Intervention: scale Δ∥ up or down while keeping the rest of the update fixed</a:t></a:r><a:endParaRPr lang="en-US" sz="1200" b="1" i="0"><a:solidFill><a:srgbClr val="D97B0D"/></a:solidFill><a:latin typeface="Times New Roman"/></a:endParaRPr></a:p></p:txBody>
    </p:sp><p:sp>
      <p:nvSpPr><p:cNvPr id="31" name="TextBox"/><p:cNvSpPr txBox="1"/><p:nvPr/></p:nvSpPr>
      <p:spPr><a:xfrm><a:off x="4300000" y="3970000"/><a:ext cx="1750000" cy="560000"/></a:xfrm><a:prstGeom prst="roundRect"><a:avLst/></a:prstGeom><a:solidFill><a:srgbClr val="FFFFFF"/></a:solidFill><a:ln w="12700"><a:solidFill><a:srgbClr val="D0D0D0"/></a:solidFill></a:ln></p:spPr>
      <p:txBody><a:bodyPr wrap="square" lIns="91440" tIns="91440" rIns="91440" bIns="91440" anchor="ctr"/><a:lstStyle/><a:p><a:pPr algn="ctr"/><a:r><a:rPr lang="en-US" sz="1350" b="1" i="0" dirty="0" smtClean="0"><a:solidFill><a:srgbClr val="3F3F3F"/></a:solidFill><a:latin typeface="Times New Roman"/></a:rPr><a:t>baseline    scale up Δ∥    scale down Δ∥</a:t></a:r><a:endParaRPr lang="en-US" sz="1350" b="1" i="0"><a:solidFill><a:srgbClr val="3F3F3F"/></a:solidFill><a:latin typeface="Times New Roman"/></a:endParaRPr></a:p></p:txBody>
    </p:sp><p:sp>
      <p:nvSpPr><p:cNvPr id="32" name="TextBox"/><p:cNvSpPr txBox="1"/><p:nvPr/></p:nvSpPr>
      <p:spPr><a:xfrm><a:off x="6150000" y="3970000"/><a:ext cx="1750000" cy="560000"/></a:xfrm><a:prstGeom prst="roundRect"><a:avLst/></a:prstGeom><a:solidFill><a:srgbClr val="FFFFFF"/></a:solidFill><a:ln w="12700"><a:solidFill><a:srgbClr val="D0D0D0"/></a:solidFill></a:ln></p:spPr>
      <p:txBody><a:bodyPr wrap="square" lIns="91440" tIns="91440" rIns="91440" bIns="91440" anchor="ctr"/><a:lstStyle/><a:p><a:pPr algn="ctr"/><a:r><a:rPr lang="en-US" sz="1200" b="0" i="0" dirty="0" smtClean="0"><a:solidFill><a:srgbClr val="3F3F3F"/></a:solidFill><a:latin typeface="Times New Roman"/></a:rPr><a:t>preserve direction,</a:t></a:r><a:endParaRPr lang="en-US" sz="1200" b="0" i="0"><a:solidFill><a:srgbClr val="3F3F3F"/></a:solidFill><a:latin typeface="Times New Roman"/></a:endParaRPr></a:p><a:p><a:pPr algn="ctr"/><a:r><a:rPr lang="en-US" sz="1200" b="0" i="0" dirty="0" smtClean="0"><a:solidFill><a:srgbClr val="3F3F3F"/></a:solidFill><a:latin typeface="Times New Roman"/></a:rPr><a:t>change magnitude</a:t></a:r><a:endParaRPr lang="en-US" sz="1200" b="0" i="0"><a:solidFill><a:srgbClr val="3F3F3F"/></a:solidFill><a:latin typeface="Times New Roman"/></a:endParaRPr></a:p></p:txBody>
    </p:sp><p:sp>
      <p:nvSpPr><p:cNvPr id="33" name="TextBox"/><p:cNvSpPr txBox="1"/><p:nvPr/></p:nvSpPr>
      <p:spPr><a:xfrm><a:off x="8000000" y="3970000"/><a:ext cx="1200000" cy="560000"/></a:xfrm><a:prstGeom prst="roundRect"><a:avLst/></a:prstGeom><a:solidFill><a:srgbClr val="FFFFFF"/></a:solidFill><a:ln w="12700"><a:solidFill><a:srgbClr val="D0D0D0"/></a:solidFill></a:ln></p:spPr>
      <p:txBody><a:bodyPr wrap="square" lIns="91440" tIns="91440" rIns="91440" bIns="91440" anchor="ctr"/><a:lstStyle/><a:p><a:pPr algn="ctr"/><a:r><a:rPr lang="en-US" sz="1200" b="0" i="0" dirty="0" smtClean="0"><a:solidFill><a:srgbClr val="3F3F3F"/></a:solidFill><a:latin typeface="Times New Roman"/></a:rPr><a:t>still mostly a</a:t></a:r><a:endParaRPr lang="en-US" sz="1200" b="0" i="0"><a:solidFill><a:srgbClr val="3F3F3F"/></a:solidFill><a:latin typeface="Times New Roman"/></a:endParaRPr></a:p><a:p><a:pPr algn="ctr"/><a:r><a:rPr lang="en-US" sz="1200" b="0" i="0" dirty="0" smtClean="0"><a:solidFill><a:srgbClr val="3F3F3F"/></a:solidFill><a:latin typeface="Times New Roman"/></a:rPr><a:t>scaling-like edit</a:t></a:r><a:endParaRPr lang="en-US" sz="1200" b="0" i="0"><a:solidFill><a:srgbClr val="3F3F3F"/></a:solidFill><a:latin typeface="Times New Roman"/></a:endParaRPr></a:p></p:txBody>
    </p:sp><p:sp>
      <p:nvSpPr><p:cNvPr id="34" name="TextBox"/><p:cNvSpPr txBox="1"/><p:nvPr/></p:nvSpPr>
      <p:spPr><a:xfrm><a:off x="4300000" y="4620000"/><a:ext cx="6300000" cy="500000"/></a:xfrm><a:prstGeom prst="roundRect"><a:avLst/></a:prstGeom><a:solidFill><a:srgbClr val="F2FBF2"/></a:solidFill><a:ln w="25400"><a:solidFill><a:srgbClr val="5AA469"/></a:solidFill></a:ln></p:spPr>
      <p:txBody><a:bodyPr wrap="square" lIns="91440" tIns="91440" rIns="91440" bIns="91440" anchor="ctr"/><a:lstStyle/><a:p><a:pPr algn="ctr"/><a:r><a:rPr lang="en-US" sz="1800" b="1" i="0" dirty="0" smtClean="0"><a:solidFill><a:srgbClr val="41884F"/></a:solidFill><a:latin typeface="Times New Roman"/></a:rPr><a:t>Good / stable behavior</a:t></a:r><a:endParaRPr lang="en-US" sz="1800" b="1" i="0"><a:solidFill><a:srgbClr val="41884F"/></a:solidFill><a:latin typeface="Times New Roman"/></a:endParaRPr></a:p></p:txBody>
    </p:sp><p:sp>
      <p:nvSpPr><p:cNvPr id="35" name="TextBox"/><p:cNvSpPr txBox="1"/><p:nvPr/></p:nvSpPr>
      <p:spPr><a:xfrm><a:off x="4470000" y="4950000"/><a:ext cx="5950000" cy="260000"/></a:xfrm><a:prstGeom prst="rect"><a:avLst/></a:prstGeom><a:noFill/><a:ln w="0"><a:solidFill><a:srgbClr val="FFFFFF"/></a:solidFill></a:ln></p:spPr>
      <p:txBody><a:bodyPr wrap="square" lIns="91440" tIns="91440" rIns="91440" bIns="91440" anchor="ctr"/><a:lstStyle/><a:p><a:pPr algn="ctr"/><a:r><a:rPr lang="en-US" sz="1250" b="1" i="0" dirty="0" smtClean="0"><a:solidFill><a:srgbClr val="41884F"/></a:solidFill><a:latin typeface="Times New Roman"/></a:rPr><a:t>Changing Δ∥ has limited impact on performance.</a:t></a:r><a:endParaRPr lang="en-US" sz="1250" b="1" i="0"><a:solidFill><a:srgbClr val="41884F"/></a:solidFill><a:latin typeface="Times New Roman"/></a:endParaRPr></a:p></p:txBody>
    </p:sp><p:sp>
      <p:nvSpPr><p:cNvPr id="36" name="TextBox"/><p:cNvSpPr txBox="1"/><p:nvPr/></p:nvSpPr>
      <p:spPr><a:xfrm><a:off x="7900000" y="5230000"/><a:ext cx="2100000" cy="260000"/></a:xfrm><a:prstGeom prst="roundRect"><a:avLst/></a:prstGeom><a:solidFill><a:srgbClr val="ECF8EC"/></a:solidFill><a:ln w="12700"><a:solidFill><a:srgbClr val="5AA469"/></a:solidFill></a:ln></p:spPr>
      <p:txBody><a:bodyPr wrap="square" lIns="91440" tIns="91440" rIns="91440" bIns="91440" anchor="ctr"/><a:lstStyle/><a:p><a:pPr algn="ctr"/><a:r><a:rPr lang="en-US" sz="1200" b="1" i="0" dirty="0" smtClean="0"><a:solidFill><a:srgbClr val="41884F"/></a:solidFill><a:latin typeface="Times New Roman"/></a:rPr><a:t>Parallel edits are largely tolerated</a:t></a:r><a:endParaRPr lang="en-US" sz="1200" b="1" i="0"><a:solidFill><a:srgbClr val="41884F"/></a:solidFill><a:latin typeface="Times New Roman"/></a:endParaRPr></a:p></p:txBody>
    </p:sp><p:sp>
      <p:nvSpPr><p:cNvPr id="37" name="TextBox"/><p:cNvSpPr txBox="1"/><p:nvPr/></p:nvSpPr>
      <p:spPr><a:xfrm><a:off x="850000" y="5950000"/><a:ext cx="9900000" cy="340000"/></a:xfrm><a:prstGeom prst="roundRect"><a:avLst/></a:prstGeom><a:solidFill><a:srgbClr val="FFFFFF"/></a:solidFill><a:ln w="19050"><a:solidFill><a:srgbClr val="3E73C1"/></a:solidFill></a:ln></p:spPr>
      <p:txBody><a:bodyPr wrap="square" lIns="91440" tIns="91440" rIns="91440" bIns="91440" anchor="ctr"/><a:lstStyle/><a:p><a:pPr algn="ctr"/><a:r><a:rPr lang="en-US" sz="1250" b="1" i="0" dirty="0" smtClean="0"><a:solidFill><a:srgbClr val="223B70"/></a:solidFill><a:latin typeface="Times New Roman"/></a:rPr><a:t>Takeaway: parallel components mainly act like scaling-like updates and are relatively robust, whereas perpendicular components are more functionally critical.</a:t></a:r><a:endParaRPr lang="en-US" sz="1250" b="1" i="0"><a:solidFill><a:srgbClr val="223B70"/></a:solidFill><a:latin typeface="Times New Roman"/></a:endParaRPr></a:p></p:txBody>
    </p:sp><p:pic>
      <p:nvPicPr><p:cNvPr id="38" name="Palette"/><p:cNvPicPr><a:picLocks noChangeAspect="1"/></p:cNvPicPr><p:nvPr/></p:nvPicPr>
      <p:blipFill><a:blip r:embed="rId4"/><a:stretch><a:fillRect/></a:stretch></p:blipFill>
      <p:spPr><a:xfrm><a:off x="11250000" y="1200000"/><a:ext cx="350000" cy="1900000"/></a:xfrm><a:prstGeom prst="rect"><a:avLst/></a:prstGeom></p:spPr>
    </p:pic>
    </p:spTree>
  </p:cSld>
  <p:clrMapOvr><a:masterClrMapping/>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imes New Roman"/>
      </a:majorFont>
      <a:minorFont>
        <a:latin typeface="Arial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Office Theme</vt:lpstr>
    </vt:vector>
  </TitlesOfParts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Editable Template</dc:title>
  <dc:creator>OpenAI Codex</dc:creator>
  <cp:lastModifiedBy>OpenAI Codex</cp:lastModifiedBy>
  <dcterms:created xsi:type="dcterms:W3CDTF">2026-05-05T05:09:22Z</dcterms:created>
  <dcterms:modified xsi:type="dcterms:W3CDTF">2026-05-05T05:09:22Z</dcterms:modified>
</cp:coreProperties>
</file>