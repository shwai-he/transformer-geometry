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showSpecialPlsOnTitleSld="1" rtl="0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/>
  <p:slideViewPr/>
  <p:outlineViewPr/>
  <p:notesTextViewPr/>
  <p:sorterViewPr/>
  <p:guideLst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/>
          <p:cNvSpPr txBox="1"/>
          <p:nvPr/>
        </p:nvSpPr>
        <p:spPr>
          <a:xfrm>
            <a:off x="600000" y="180000"/>
            <a:ext cx="109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ctr"/>
          <a:lstStyle/>
          <a:p>
            <a:pPr algn="ctr"/>
            <a:r>
              <a:rPr lang="en-US" sz="2600" b="1" i="0">
                <a:solidFill>
                  <a:srgbClr val="223B70"/>
                </a:solidFill>
                <a:latin typeface="Times New Roman"/>
              </a:rPr>
              <a:t>Parallel and Perpendicular Components Play Distinct Roles</a:t>
            </a:r>
            <a:endParaRPr lang="en-US" sz="2600" b="1" i="0">
              <a:solidFill>
                <a:srgbClr val="223B70"/>
              </a:solidFill>
              <a:latin typeface="Times New Roman"/>
            </a:endParaRPr>
          </a:p>
        </p:txBody>
      </p:sp>
      <p:sp>
        <p:nvSpPr>
          <p:cNvPr id="3" name="TextBox"/>
          <p:cNvSpPr txBox="1"/>
          <p:nvPr/>
        </p:nvSpPr>
        <p:spPr>
          <a:xfrm>
            <a:off x="600000" y="520000"/>
            <a:ext cx="109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ctr"/>
          <a:lstStyle/>
          <a:p>
            <a:pPr algn="ctr"/>
            <a:r>
              <a:rPr lang="en-US" sz="1200" b="0" i="1">
                <a:solidFill>
                  <a:srgbClr val="6E6E6E"/>
                </a:solidFill>
                <a:latin typeface="Times New Roman"/>
              </a:rPr>
              <a:t>define -&gt; interpret in attention -&gt; intervene -&gt; conclude</a:t>
            </a:r>
            <a:endParaRPr lang="en-US" sz="1200" b="0" i="1">
              <a:solidFill>
                <a:srgbClr val="6E6E6E"/>
              </a:solidFill>
              <a:latin typeface="Times New Roman"/>
            </a:endParaRPr>
          </a:p>
        </p:txBody>
      </p:sp>
      <p:sp>
        <p:nvSpPr>
          <p:cNvPr id="4" name="Panel A"/>
          <p:cNvSpPr txBox="1"/>
          <p:nvPr/>
        </p:nvSpPr>
        <p:spPr>
          <a:xfrm>
            <a:off x="700000" y="1100000"/>
            <a:ext cx="3100000" cy="2050000"/>
          </a:xfrm>
          <a:prstGeom prst="roundRect">
            <a:avLst/>
          </a:prstGeom>
          <a:solidFill>
            <a:srgbClr val="F9FBFF"/>
          </a:solidFill>
          <a:ln w="25400">
            <a:solidFill>
              <a:srgbClr val="3E73C1"/>
            </a:solidFill>
          </a:ln>
        </p:spPr>
      </p:sp>
      <p:sp>
        <p:nvSpPr>
          <p:cNvPr id="5" name="TextBox"/>
          <p:cNvSpPr txBox="1"/>
          <p:nvPr/>
        </p:nvSpPr>
        <p:spPr>
          <a:xfrm>
            <a:off x="760000" y="1160000"/>
            <a:ext cx="300000" cy="300000"/>
          </a:xfrm>
          <a:prstGeom prst="ellipse">
            <a:avLst/>
          </a:prstGeom>
          <a:solidFill>
            <a:srgbClr val="3E73C1"/>
          </a:solidFill>
          <a:ln w="12700">
            <a:solidFill>
              <a:srgbClr val="3E73C1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en-US" sz="1800" b="1" i="0">
                <a:solidFill>
                  <a:srgbClr val="FFFFFF"/>
                </a:solidFill>
                <a:latin typeface="Arial"/>
              </a:rPr>
              <a:t>A</a:t>
            </a:r>
            <a:endParaRPr lang="en-US" sz="1800" b="1" i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TextBox"/>
          <p:cNvSpPr txBox="1"/>
          <p:nvPr/>
        </p:nvSpPr>
        <p:spPr>
          <a:xfrm>
            <a:off x="1150000" y="1120000"/>
            <a:ext cx="25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ctr"/>
          <a:lstStyle/>
          <a:p>
            <a:pPr algn="l"/>
            <a:r>
              <a:rPr lang="en-US" sz="1700" b="1" i="0">
                <a:solidFill>
                  <a:srgbClr val="223B70"/>
                </a:solidFill>
                <a:latin typeface="Times New Roman"/>
              </a:rPr>
              <a:t>A. Geometric</a:t>
            </a:r>
            <a:endParaRPr lang="en-US" sz="1700" b="1" i="0">
              <a:solidFill>
                <a:srgbClr val="223B70"/>
              </a:solidFill>
              <a:latin typeface="Times New Roman"/>
            </a:endParaRPr>
          </a:p>
          <a:p>
            <a:pPr algn="l"/>
            <a:r>
              <a:rPr lang="en-US" sz="1700" b="1" i="0">
                <a:solidFill>
                  <a:srgbClr val="223B70"/>
                </a:solidFill>
                <a:latin typeface="Times New Roman"/>
              </a:rPr>
              <a:t>Decomposition</a:t>
            </a:r>
            <a:endParaRPr lang="en-US" sz="1700" b="1" i="0">
              <a:solidFill>
                <a:srgbClr val="223B70"/>
              </a:solidFill>
              <a:latin typeface="Times New Roman"/>
            </a:endParaRPr>
          </a:p>
        </p:txBody>
      </p:sp>
      <p:sp>
        <p:nvSpPr>
          <p:cNvPr id="7" name="TextBox"/>
          <p:cNvSpPr txBox="1"/>
          <p:nvPr/>
        </p:nvSpPr>
        <p:spPr>
          <a:xfrm>
            <a:off x="830000" y="1500000"/>
            <a:ext cx="2550000" cy="8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</p:spPr>
        <p:txBody>
          <a:bodyPr wrap="square" lIns="91440" tIns="91440" rIns="91440" bIns="91440" anchor="ctr"/>
          <a:lstStyle/>
          <a:p>
            <a:pPr algn="ctr"/>
            <a:r>
              <a:rPr lang="en-US" sz="1500" b="1" i="0">
                <a:solidFill>
                  <a:srgbClr val="223B70"/>
                </a:solidFill>
                <a:latin typeface="Arial"/>
              </a:rPr>
              <a:t>Delta = Delta_parallel + Delta_perp</a:t>
            </a:r>
            <a:endParaRPr lang="en-US" sz="1500" b="1" i="0">
              <a:solidFill>
                <a:srgbClr val="223B70"/>
              </a:solidFill>
              <a:latin typeface="Arial"/>
            </a:endParaRPr>
          </a:p>
          <a:p>
            <a:pPr algn="ctr"/>
            <a:r>
              <a:rPr lang="en-US" sz="1500" b="1" i="0">
                <a:solidFill>
                  <a:srgbClr val="223B70"/>
                </a:solidFill>
                <a:latin typeface="Arial"/>
              </a:rPr>
              <a:t>Delta_parallel = alpha x</a:t>
            </a:r>
            <a:endParaRPr lang="en-US" sz="1500" b="1" i="0">
              <a:solidFill>
                <a:srgbClr val="223B70"/>
              </a:solidFill>
              <a:latin typeface="Arial"/>
            </a:endParaRPr>
          </a:p>
          <a:p>
            <a:pPr algn="ctr"/>
            <a:r>
              <a:rPr lang="en-US" sz="1500" b="1" i="0">
                <a:solidFill>
                  <a:srgbClr val="223B70"/>
                </a:solidFill>
                <a:latin typeface="Arial"/>
              </a:rPr>
              <a:t>Delta_perp ⟂ x</a:t>
            </a:r>
            <a:endParaRPr lang="en-US" sz="1500" b="1" i="0">
              <a:solidFill>
                <a:srgbClr val="223B70"/>
              </a:solidFill>
              <a:latin typeface="Arial"/>
            </a:endParaRPr>
          </a:p>
        </p:txBody>
      </p:sp>
      <p:sp>
        <p:nvSpPr>
          <p:cNvPr id="8" name="TextBox"/>
          <p:cNvSpPr txBox="1"/>
          <p:nvPr/>
        </p:nvSpPr>
        <p:spPr>
          <a:xfrm>
            <a:off x="830000" y="2370000"/>
            <a:ext cx="1200000" cy="220000"/>
          </a:xfrm>
          <a:prstGeom prst="roundRect">
            <a:avLst/>
          </a:prstGeom>
          <a:solidFill>
            <a:srgbClr val="FFF1E2"/>
          </a:solidFill>
          <a:ln w="12700">
            <a:solidFill>
              <a:srgbClr val="F39A12"/>
            </a:solidFill>
          </a:ln>
        </p:spPr>
        <p:txBody>
          <a:bodyPr wrap="square" lIns="91440" tIns="91440" rIns="91440" bIns="91440" anchor="ctr"/>
          <a:lstStyle/>
          <a:p>
            <a:pPr algn="ctr"/>
            <a:r>
              <a:rPr lang="en-US" sz="1200" b="1" i="0">
                <a:solidFill>
                  <a:srgbClr val="D97B0D"/>
                </a:solidFill>
                <a:latin typeface="Arial"/>
              </a:rPr>
              <a:t>Parallel: scaling-like</a:t>
            </a:r>
            <a:endParaRPr lang="en-US" sz="1200" b="1" i="0">
              <a:solidFill>
                <a:srgbClr val="D97B0D"/>
              </a:solidFill>
              <a:latin typeface="Arial"/>
            </a:endParaRPr>
          </a:p>
        </p:txBody>
      </p:sp>
      <p:sp>
        <p:nvSpPr>
          <p:cNvPr id="9" name="TextBox"/>
          <p:cNvSpPr txBox="1"/>
          <p:nvPr/>
        </p:nvSpPr>
        <p:spPr>
          <a:xfrm>
            <a:off x="2150000" y="2370000"/>
            <a:ext cx="1200000" cy="220000"/>
          </a:xfrm>
          <a:prstGeom prst="roundRect">
            <a:avLst/>
          </a:prstGeom>
          <a:solidFill>
            <a:srgbClr val="F2ECFF"/>
          </a:solidFill>
          <a:ln w="12700">
            <a:solidFill>
              <a:srgbClr val="7B5AC7"/>
            </a:solidFill>
          </a:ln>
        </p:spPr>
        <p:txBody>
          <a:bodyPr wrap="square" lIns="91440" tIns="91440" rIns="91440" bIns="91440" anchor="ctr"/>
          <a:lstStyle/>
          <a:p>
            <a:pPr algn="ctr"/>
            <a:r>
              <a:rPr lang="en-US" sz="1200" b="1" i="0">
                <a:solidFill>
                  <a:srgbClr val="6A4FB0"/>
                </a:solidFill>
                <a:latin typeface="Arial"/>
              </a:rPr>
              <a:t>Perpendicular: direction-changing</a:t>
            </a:r>
            <a:endParaRPr lang="en-US" sz="1200" b="1" i="0">
              <a:solidFill>
                <a:srgbClr val="6A4FB0"/>
              </a:solidFill>
              <a:latin typeface="Arial"/>
            </a:endParaRPr>
          </a:p>
        </p:txBody>
      </p:sp>
      <p:sp>
        <p:nvSpPr>
          <p:cNvPr id="10" name="Panel B"/>
          <p:cNvSpPr txBox="1"/>
          <p:nvPr/>
        </p:nvSpPr>
        <p:spPr>
          <a:xfrm>
            <a:off x="700000" y="3250000"/>
            <a:ext cx="3100000" cy="2300000"/>
          </a:xfrm>
          <a:prstGeom prst="roundRect">
            <a:avLst/>
          </a:prstGeom>
          <a:solidFill>
            <a:srgbClr val="F9FBFF"/>
          </a:solidFill>
          <a:ln w="25400">
            <a:solidFill>
              <a:srgbClr val="3E73C1"/>
            </a:solidFill>
          </a:ln>
        </p:spPr>
      </p:sp>
      <p:sp>
        <p:nvSpPr>
          <p:cNvPr id="11" name="TextBox"/>
          <p:cNvSpPr txBox="1"/>
          <p:nvPr/>
        </p:nvSpPr>
        <p:spPr>
          <a:xfrm>
            <a:off x="760000" y="3310000"/>
            <a:ext cx="300000" cy="300000"/>
          </a:xfrm>
          <a:prstGeom prst="ellipse">
            <a:avLst/>
          </a:prstGeom>
          <a:solidFill>
            <a:srgbClr val="3E73C1"/>
          </a:solidFill>
          <a:ln w="12700">
            <a:solidFill>
              <a:srgbClr val="3E73C1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en-US" sz="1800" b="1" i="0">
                <a:solidFill>
                  <a:srgbClr val="FFFFFF"/>
                </a:solidFill>
                <a:latin typeface="Arial"/>
              </a:rPr>
              <a:t>B</a:t>
            </a:r>
            <a:endParaRPr lang="en-US" sz="1800" b="1" i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Box"/>
          <p:cNvSpPr txBox="1"/>
          <p:nvPr/>
        </p:nvSpPr>
        <p:spPr>
          <a:xfrm>
            <a:off x="1150000" y="3270000"/>
            <a:ext cx="26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ctr"/>
          <a:lstStyle/>
          <a:p>
            <a:pPr algn="l"/>
            <a:r>
              <a:rPr lang="en-US" sz="1600" b="1" i="0">
                <a:solidFill>
                  <a:srgbClr val="223B70"/>
                </a:solidFill>
                <a:latin typeface="Times New Roman"/>
              </a:rPr>
              <a:t>B. Attention / Value-Based</a:t>
            </a:r>
            <a:endParaRPr lang="en-US" sz="1600" b="1" i="0">
              <a:solidFill>
                <a:srgbClr val="223B70"/>
              </a:solidFill>
              <a:latin typeface="Times New Roman"/>
            </a:endParaRPr>
          </a:p>
          <a:p>
            <a:pPr algn="l"/>
            <a:r>
              <a:rPr lang="en-US" sz="1600" b="1" i="0">
                <a:solidFill>
                  <a:srgbClr val="223B70"/>
                </a:solidFill>
                <a:latin typeface="Times New Roman"/>
              </a:rPr>
              <a:t>Interpretation</a:t>
            </a:r>
            <a:endParaRPr lang="en-US" sz="1600" b="1" i="0">
              <a:solidFill>
                <a:srgbClr val="223B70"/>
              </a:solidFill>
              <a:latin typeface="Times New Roman"/>
            </a:endParaRPr>
          </a:p>
        </p:txBody>
      </p:sp>
      <p:sp>
        <p:nvSpPr>
          <p:cNvPr id="13" name="TextBox"/>
          <p:cNvSpPr txBox="1"/>
          <p:nvPr/>
        </p:nvSpPr>
        <p:spPr>
          <a:xfrm>
            <a:off x="900000" y="3680000"/>
            <a:ext cx="26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ctr"/>
          <a:lstStyle/>
          <a:p>
            <a:pPr algn="ctr"/>
            <a:r>
              <a:rPr lang="en-US" sz="1100" b="0" i="0">
                <a:solidFill>
                  <a:srgbClr val="4A4A4A"/>
                </a:solidFill>
                <a:latin typeface="Arial"/>
              </a:rPr>
              <a:t>Diagonal suppression weakens self-copy and redistributes mass off diagonal.</a:t>
            </a:r>
            <a:endParaRPr lang="en-US" sz="1100" b="0" i="0">
              <a:solidFill>
                <a:srgbClr val="4A4A4A"/>
              </a:solidFill>
              <a:latin typeface="Arial"/>
            </a:endParaRPr>
          </a:p>
        </p:txBody>
      </p:sp>
      <p:pic>
        <p:nvPicPr>
          <p:cNvPr id="14" name="Baseline Schemati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000" y="4020000"/>
            <a:ext cx="950000" cy="950000"/>
          </a:xfrm>
          <a:prstGeom prst="rect">
            <a:avLst/>
          </a:prstGeom>
        </p:spPr>
      </p:pic>
      <p:sp>
        <p:nvSpPr>
          <p:cNvPr id="15" name="TextBox"/>
          <p:cNvSpPr txBox="1"/>
          <p:nvPr/>
        </p:nvSpPr>
        <p:spPr>
          <a:xfrm>
            <a:off x="1830000" y="4300000"/>
            <a:ext cx="25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200" b="1" i="0">
                <a:solidFill>
                  <a:srgbClr val="7A7A7A"/>
                </a:solidFill>
                <a:latin typeface="Arial"/>
              </a:rPr>
              <a:t>→</a:t>
            </a:r>
            <a:endParaRPr lang="en-US" sz="2200" b="1" i="0">
              <a:solidFill>
                <a:srgbClr val="7A7A7A"/>
              </a:solidFill>
              <a:latin typeface="Arial"/>
            </a:endParaRPr>
          </a:p>
        </p:txBody>
      </p:sp>
      <p:pic>
        <p:nvPicPr>
          <p:cNvPr id="16" name="Suppressed Schemati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0000" y="4020000"/>
            <a:ext cx="950000" cy="950000"/>
          </a:xfrm>
          <a:prstGeom prst="rect">
            <a:avLst/>
          </a:prstGeom>
        </p:spPr>
      </p:pic>
      <p:sp>
        <p:nvSpPr>
          <p:cNvPr id="17" name="TextBox"/>
          <p:cNvSpPr txBox="1"/>
          <p:nvPr/>
        </p:nvSpPr>
        <p:spPr>
          <a:xfrm>
            <a:off x="900000" y="5070000"/>
            <a:ext cx="2200000" cy="360000"/>
          </a:xfrm>
          <a:prstGeom prst="roundRect">
            <a:avLst/>
          </a:prstGeom>
          <a:solidFill>
            <a:srgbClr val="FFF8F0"/>
          </a:solidFill>
          <a:ln w="12700">
            <a:solidFill>
              <a:srgbClr val="E0A050"/>
            </a:solidFill>
          </a:ln>
        </p:spPr>
        <p:txBody>
          <a:bodyPr wrap="square" lIns="91440" tIns="91440" rIns="91440" bIns="91440" anchor="ctr"/>
          <a:lstStyle/>
          <a:p>
            <a:pPr algn="ctr"/>
            <a:r>
              <a:rPr lang="en-US" sz="1100" b="1" i="0">
                <a:solidFill>
                  <a:srgbClr val="9A5E10"/>
                </a:solidFill>
                <a:latin typeface="Arial"/>
              </a:rPr>
              <a:t>Key observation: suppressing the diagonal reduces self-routing and pushes attention mass away from self-dominant positions.</a:t>
            </a:r>
            <a:endParaRPr lang="en-US" sz="1100" b="1" i="0">
              <a:solidFill>
                <a:srgbClr val="9A5E10"/>
              </a:solidFill>
              <a:latin typeface="Arial"/>
            </a:endParaRPr>
          </a:p>
        </p:txBody>
      </p:sp>
      <p:sp>
        <p:nvSpPr>
          <p:cNvPr id="18" name="Panel C"/>
          <p:cNvSpPr txBox="1"/>
          <p:nvPr/>
        </p:nvSpPr>
        <p:spPr>
          <a:xfrm>
            <a:off x="3900000" y="1100000"/>
            <a:ext cx="7600000" cy="2100000"/>
          </a:xfrm>
          <a:prstGeom prst="roundRect">
            <a:avLst/>
          </a:prstGeom>
          <a:solidFill>
            <a:srgbClr val="F9FBFF"/>
          </a:solidFill>
          <a:ln w="25400">
            <a:solidFill>
              <a:srgbClr val="3E73C1"/>
            </a:solidFill>
          </a:ln>
        </p:spPr>
      </p:sp>
      <p:sp>
        <p:nvSpPr>
          <p:cNvPr id="19" name="TextBox"/>
          <p:cNvSpPr txBox="1"/>
          <p:nvPr/>
        </p:nvSpPr>
        <p:spPr>
          <a:xfrm>
            <a:off x="3980000" y="1160000"/>
            <a:ext cx="300000" cy="300000"/>
          </a:xfrm>
          <a:prstGeom prst="ellipse">
            <a:avLst/>
          </a:prstGeom>
          <a:solidFill>
            <a:srgbClr val="3E73C1"/>
          </a:solidFill>
          <a:ln w="12700">
            <a:solidFill>
              <a:srgbClr val="3E73C1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en-US" sz="1800" b="1" i="0">
                <a:solidFill>
                  <a:srgbClr val="FFFFFF"/>
                </a:solidFill>
                <a:latin typeface="Arial"/>
              </a:rPr>
              <a:t>C</a:t>
            </a:r>
            <a:endParaRPr lang="en-US" sz="1800" b="1" i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Box"/>
          <p:cNvSpPr txBox="1"/>
          <p:nvPr/>
        </p:nvSpPr>
        <p:spPr>
          <a:xfrm>
            <a:off x="4350000" y="1120000"/>
            <a:ext cx="42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ctr"/>
          <a:lstStyle/>
          <a:p>
            <a:pPr algn="l"/>
            <a:r>
              <a:rPr lang="en-US" sz="1700" b="1" i="0">
                <a:solidFill>
                  <a:srgbClr val="223B70"/>
                </a:solidFill>
                <a:latin typeface="Times New Roman"/>
              </a:rPr>
              <a:t>C. Manipulating the Perpendicular Component</a:t>
            </a:r>
            <a:endParaRPr lang="en-US" sz="1700" b="1" i="0">
              <a:solidFill>
                <a:srgbClr val="223B70"/>
              </a:solidFill>
              <a:latin typeface="Times New Roman"/>
            </a:endParaRPr>
          </a:p>
        </p:txBody>
      </p:sp>
      <p:sp>
        <p:nvSpPr>
          <p:cNvPr id="21" name="TextBox"/>
          <p:cNvSpPr txBox="1"/>
          <p:nvPr/>
        </p:nvSpPr>
        <p:spPr>
          <a:xfrm>
            <a:off x="4050000" y="1480000"/>
            <a:ext cx="7100000" cy="220000"/>
          </a:xfrm>
          <a:prstGeom prst="rect">
            <a:avLst/>
          </a:prstGeom>
          <a:solidFill>
            <a:srgbClr val="F4EFFF"/>
          </a:solidFill>
          <a:ln w="12700">
            <a:solidFill>
              <a:srgbClr val="8C6AD2"/>
            </a:solidFill>
          </a:ln>
        </p:spPr>
        <p:txBody>
          <a:bodyPr wrap="square" lIns="91440" tIns="91440" rIns="91440" bIns="91440" anchor="ctr"/>
          <a:lstStyle/>
          <a:p>
            <a:pPr algn="ctr"/>
            <a:r>
              <a:rPr lang="en-US" sz="1200" b="1" i="0">
                <a:solidFill>
                  <a:srgbClr val="7B5AC7"/>
                </a:solidFill>
                <a:latin typeface="Arial"/>
              </a:rPr>
              <a:t>Intervention: stretch or shrink Delta_perp while keeping the rest of the update fixed</a:t>
            </a:r>
            <a:endParaRPr lang="en-US" sz="1200" b="1" i="0">
              <a:solidFill>
                <a:srgbClr val="7B5AC7"/>
              </a:solidFill>
              <a:latin typeface="Arial"/>
            </a:endParaRPr>
          </a:p>
        </p:txBody>
      </p:sp>
      <p:sp>
        <p:nvSpPr>
          <p:cNvPr id="22" name="TextBox"/>
          <p:cNvSpPr txBox="1"/>
          <p:nvPr/>
        </p:nvSpPr>
        <p:spPr>
          <a:xfrm>
            <a:off x="4300000" y="1770000"/>
            <a:ext cx="4900000" cy="5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</p:spPr>
        <p:txBody>
          <a:bodyPr wrap="square" lIns="91440" tIns="91440" rIns="91440" bIns="91440" anchor="ctr"/>
          <a:lstStyle/>
          <a:p>
            <a:pPr algn="ctr"/>
            <a:r>
              <a:rPr lang="en-US" sz="1350" b="1" i="0">
                <a:solidFill>
                  <a:srgbClr val="3F3F3F"/>
                </a:solidFill>
                <a:latin typeface="Arial"/>
              </a:rPr>
              <a:t>baseline   →   stretch Delta_perp   →   shrink Delta_perp</a:t>
            </a:r>
            <a:endParaRPr lang="en-US" sz="1350" b="1" i="0">
              <a:solidFill>
                <a:srgbClr val="3F3F3F"/>
              </a:solidFill>
              <a:latin typeface="Arial"/>
            </a:endParaRPr>
          </a:p>
        </p:txBody>
      </p:sp>
      <p:sp>
        <p:nvSpPr>
          <p:cNvPr id="23" name="TextBox"/>
          <p:cNvSpPr txBox="1"/>
          <p:nvPr/>
        </p:nvSpPr>
        <p:spPr>
          <a:xfrm>
            <a:off x="4300000" y="2420000"/>
            <a:ext cx="6300000" cy="500000"/>
          </a:xfrm>
          <a:prstGeom prst="roundRect">
            <a:avLst/>
          </a:prstGeom>
          <a:solidFill>
            <a:srgbClr val="FFF4F4"/>
          </a:solidFill>
          <a:ln w="25400">
            <a:solidFill>
              <a:srgbClr val="D9534F"/>
            </a:solidFill>
          </a:ln>
        </p:spPr>
        <p:txBody>
          <a:bodyPr wrap="square" lIns="91440" tIns="91440" rIns="91440" bIns="91440" anchor="ctr"/>
          <a:lstStyle/>
          <a:p>
            <a:pPr algn="ctr"/>
            <a:r>
              <a:rPr lang="en-US" sz="1800" b="1" i="0">
                <a:solidFill>
                  <a:srgbClr val="C84E43"/>
                </a:solidFill>
                <a:latin typeface="Times New Roman"/>
              </a:rPr>
              <a:t>Poor / fragile behavior</a:t>
            </a:r>
            <a:endParaRPr lang="en-US" sz="1800" b="1" i="0">
              <a:solidFill>
                <a:srgbClr val="C84E43"/>
              </a:solidFill>
              <a:latin typeface="Times New Roman"/>
            </a:endParaRPr>
          </a:p>
        </p:txBody>
      </p:sp>
      <p:sp>
        <p:nvSpPr>
          <p:cNvPr id="24" name="TextBox"/>
          <p:cNvSpPr txBox="1"/>
          <p:nvPr/>
        </p:nvSpPr>
        <p:spPr>
          <a:xfrm>
            <a:off x="4470000" y="2750000"/>
            <a:ext cx="595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ctr"/>
          <a:lstStyle/>
          <a:p>
            <a:pPr algn="ctr"/>
            <a:r>
              <a:rPr lang="en-US" sz="1250" b="1" i="0">
                <a:solidFill>
                  <a:srgbClr val="C84E43"/>
                </a:solidFill>
                <a:latin typeface="Arial"/>
              </a:rPr>
              <a:t>Performance degrades quickly when Delta_perp is perturbed.</a:t>
            </a:r>
            <a:endParaRPr lang="en-US" sz="1250" b="1" i="0">
              <a:solidFill>
                <a:srgbClr val="C84E43"/>
              </a:solidFill>
              <a:latin typeface="Arial"/>
            </a:endParaRPr>
          </a:p>
        </p:txBody>
      </p:sp>
      <p:sp>
        <p:nvSpPr>
          <p:cNvPr id="25" name="Panel D"/>
          <p:cNvSpPr txBox="1"/>
          <p:nvPr/>
        </p:nvSpPr>
        <p:spPr>
          <a:xfrm>
            <a:off x="3900000" y="3300000"/>
            <a:ext cx="7600000" cy="2200000"/>
          </a:xfrm>
          <a:prstGeom prst="roundRect">
            <a:avLst/>
          </a:prstGeom>
          <a:solidFill>
            <a:srgbClr val="F9FBFF"/>
          </a:solidFill>
          <a:ln w="25400">
            <a:solidFill>
              <a:srgbClr val="3E73C1"/>
            </a:solidFill>
          </a:ln>
        </p:spPr>
      </p:sp>
      <p:sp>
        <p:nvSpPr>
          <p:cNvPr id="26" name="TextBox"/>
          <p:cNvSpPr txBox="1"/>
          <p:nvPr/>
        </p:nvSpPr>
        <p:spPr>
          <a:xfrm>
            <a:off x="3980000" y="3360000"/>
            <a:ext cx="300000" cy="300000"/>
          </a:xfrm>
          <a:prstGeom prst="ellipse">
            <a:avLst/>
          </a:prstGeom>
          <a:solidFill>
            <a:srgbClr val="3E73C1"/>
          </a:solidFill>
          <a:ln w="12700">
            <a:solidFill>
              <a:srgbClr val="3E73C1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en-US" sz="1800" b="1" i="0">
                <a:solidFill>
                  <a:srgbClr val="FFFFFF"/>
                </a:solidFill>
                <a:latin typeface="Arial"/>
              </a:rPr>
              <a:t>D</a:t>
            </a:r>
            <a:endParaRPr lang="en-US" sz="1800" b="1" i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TextBox"/>
          <p:cNvSpPr txBox="1"/>
          <p:nvPr/>
        </p:nvSpPr>
        <p:spPr>
          <a:xfrm>
            <a:off x="4350000" y="3320000"/>
            <a:ext cx="42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ctr"/>
          <a:lstStyle/>
          <a:p>
            <a:pPr algn="l"/>
            <a:r>
              <a:rPr lang="en-US" sz="1700" b="1" i="0">
                <a:solidFill>
                  <a:srgbClr val="223B70"/>
                </a:solidFill>
                <a:latin typeface="Times New Roman"/>
              </a:rPr>
              <a:t>D. Manipulating the Parallel Component</a:t>
            </a:r>
            <a:endParaRPr lang="en-US" sz="1700" b="1" i="0">
              <a:solidFill>
                <a:srgbClr val="223B70"/>
              </a:solidFill>
              <a:latin typeface="Times New Roman"/>
            </a:endParaRPr>
          </a:p>
        </p:txBody>
      </p:sp>
      <p:sp>
        <p:nvSpPr>
          <p:cNvPr id="28" name="TextBox"/>
          <p:cNvSpPr txBox="1"/>
          <p:nvPr/>
        </p:nvSpPr>
        <p:spPr>
          <a:xfrm>
            <a:off x="4050000" y="3680000"/>
            <a:ext cx="7100000" cy="220000"/>
          </a:xfrm>
          <a:prstGeom prst="rect">
            <a:avLst/>
          </a:prstGeom>
          <a:solidFill>
            <a:srgbClr val="FFF4E8"/>
          </a:solidFill>
          <a:ln w="12700">
            <a:solidFill>
              <a:srgbClr val="F39A12"/>
            </a:solidFill>
          </a:ln>
        </p:spPr>
        <p:txBody>
          <a:bodyPr wrap="square" lIns="91440" tIns="91440" rIns="91440" bIns="91440" anchor="ctr"/>
          <a:lstStyle/>
          <a:p>
            <a:pPr algn="ctr"/>
            <a:r>
              <a:rPr lang="en-US" sz="1200" b="1" i="0">
                <a:solidFill>
                  <a:srgbClr val="D97B0D"/>
                </a:solidFill>
                <a:latin typeface="Arial"/>
              </a:rPr>
              <a:t>Intervention: scale Delta_parallel up or down while keeping the rest of the update fixed</a:t>
            </a:r>
            <a:endParaRPr lang="en-US" sz="1200" b="1" i="0">
              <a:solidFill>
                <a:srgbClr val="D97B0D"/>
              </a:solidFill>
              <a:latin typeface="Arial"/>
            </a:endParaRPr>
          </a:p>
        </p:txBody>
      </p:sp>
      <p:sp>
        <p:nvSpPr>
          <p:cNvPr id="29" name="TextBox"/>
          <p:cNvSpPr txBox="1"/>
          <p:nvPr/>
        </p:nvSpPr>
        <p:spPr>
          <a:xfrm>
            <a:off x="4300000" y="3970000"/>
            <a:ext cx="4900000" cy="5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</p:spPr>
        <p:txBody>
          <a:bodyPr wrap="square" lIns="91440" tIns="91440" rIns="91440" bIns="91440" anchor="ctr"/>
          <a:lstStyle/>
          <a:p>
            <a:pPr algn="ctr"/>
            <a:r>
              <a:rPr lang="en-US" sz="1350" b="1" i="0">
                <a:solidFill>
                  <a:srgbClr val="3F3F3F"/>
                </a:solidFill>
                <a:latin typeface="Arial"/>
              </a:rPr>
              <a:t>baseline   →   scale up Delta_parallel   →   scale down Delta_parallel</a:t>
            </a:r>
            <a:endParaRPr lang="en-US" sz="1350" b="1" i="0">
              <a:solidFill>
                <a:srgbClr val="3F3F3F"/>
              </a:solidFill>
              <a:latin typeface="Arial"/>
            </a:endParaRPr>
          </a:p>
        </p:txBody>
      </p:sp>
      <p:sp>
        <p:nvSpPr>
          <p:cNvPr id="30" name="TextBox"/>
          <p:cNvSpPr txBox="1"/>
          <p:nvPr/>
        </p:nvSpPr>
        <p:spPr>
          <a:xfrm>
            <a:off x="4300000" y="4620000"/>
            <a:ext cx="6300000" cy="500000"/>
          </a:xfrm>
          <a:prstGeom prst="roundRect">
            <a:avLst/>
          </a:prstGeom>
          <a:solidFill>
            <a:srgbClr val="F2FBF2"/>
          </a:solidFill>
          <a:ln w="25400">
            <a:solidFill>
              <a:srgbClr val="5AA469"/>
            </a:solidFill>
          </a:ln>
        </p:spPr>
        <p:txBody>
          <a:bodyPr wrap="square" lIns="91440" tIns="91440" rIns="91440" bIns="91440" anchor="ctr"/>
          <a:lstStyle/>
          <a:p>
            <a:pPr algn="ctr"/>
            <a:r>
              <a:rPr lang="en-US" sz="1800" b="1" i="0">
                <a:solidFill>
                  <a:srgbClr val="41884F"/>
                </a:solidFill>
                <a:latin typeface="Times New Roman"/>
              </a:rPr>
              <a:t>Good / stable behavior</a:t>
            </a:r>
            <a:endParaRPr lang="en-US" sz="1800" b="1" i="0">
              <a:solidFill>
                <a:srgbClr val="41884F"/>
              </a:solidFill>
              <a:latin typeface="Times New Roman"/>
            </a:endParaRPr>
          </a:p>
        </p:txBody>
      </p:sp>
      <p:sp>
        <p:nvSpPr>
          <p:cNvPr id="31" name="TextBox"/>
          <p:cNvSpPr txBox="1"/>
          <p:nvPr/>
        </p:nvSpPr>
        <p:spPr>
          <a:xfrm>
            <a:off x="4470000" y="4950000"/>
            <a:ext cx="595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ctr"/>
          <a:lstStyle/>
          <a:p>
            <a:pPr algn="ctr"/>
            <a:r>
              <a:rPr lang="en-US" sz="1250" b="1" i="0">
                <a:solidFill>
                  <a:srgbClr val="41884F"/>
                </a:solidFill>
                <a:latin typeface="Arial"/>
              </a:rPr>
              <a:t>Changing Delta_parallel has limited impact on performance.</a:t>
            </a:r>
            <a:endParaRPr lang="en-US" sz="1250" b="1" i="0">
              <a:solidFill>
                <a:srgbClr val="41884F"/>
              </a:solidFill>
              <a:latin typeface="Arial"/>
            </a:endParaRPr>
          </a:p>
        </p:txBody>
      </p:sp>
      <p:sp>
        <p:nvSpPr>
          <p:cNvPr id="32" name="TextBox"/>
          <p:cNvSpPr txBox="1"/>
          <p:nvPr/>
        </p:nvSpPr>
        <p:spPr>
          <a:xfrm>
            <a:off x="7900000" y="5230000"/>
            <a:ext cx="2100000" cy="260000"/>
          </a:xfrm>
          <a:prstGeom prst="roundRect">
            <a:avLst/>
          </a:prstGeom>
          <a:solidFill>
            <a:srgbClr val="ECF8EC"/>
          </a:solidFill>
          <a:ln w="12700">
            <a:solidFill>
              <a:srgbClr val="5AA469"/>
            </a:solidFill>
          </a:ln>
        </p:spPr>
        <p:txBody>
          <a:bodyPr wrap="square" lIns="91440" tIns="91440" rIns="91440" bIns="91440" anchor="ctr"/>
          <a:lstStyle/>
          <a:p>
            <a:pPr algn="ctr"/>
            <a:r>
              <a:rPr lang="en-US" sz="1200" b="1" i="0">
                <a:solidFill>
                  <a:srgbClr val="41884F"/>
                </a:solidFill>
                <a:latin typeface="Arial"/>
              </a:rPr>
              <a:t>Parallel edits are largely tolerated</a:t>
            </a:r>
            <a:endParaRPr lang="en-US" sz="1200" b="1" i="0">
              <a:solidFill>
                <a:srgbClr val="41884F"/>
              </a:solidFill>
              <a:latin typeface="Arial"/>
            </a:endParaRPr>
          </a:p>
        </p:txBody>
      </p:sp>
      <p:sp>
        <p:nvSpPr>
          <p:cNvPr id="33" name="TextBox"/>
          <p:cNvSpPr txBox="1"/>
          <p:nvPr/>
        </p:nvSpPr>
        <p:spPr>
          <a:xfrm>
            <a:off x="850000" y="5950000"/>
            <a:ext cx="9900000" cy="3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E73C1"/>
            </a:solidFill>
          </a:ln>
        </p:spPr>
        <p:txBody>
          <a:bodyPr wrap="square" lIns="91440" tIns="91440" rIns="91440" bIns="91440" anchor="ctr"/>
          <a:lstStyle/>
          <a:p>
            <a:pPr algn="ctr"/>
            <a:r>
              <a:rPr lang="en-US" sz="1250" b="1" i="0">
                <a:solidFill>
                  <a:srgbClr val="223B70"/>
                </a:solidFill>
                <a:latin typeface="Times New Roman"/>
              </a:rPr>
              <a:t>Takeaway: parallel components mainly act like scaling-like updates and are relatively robust, whereas perpendicular components are more functionally critical.</a:t>
            </a:r>
            <a:endParaRPr lang="en-US" sz="1250" b="1" i="0">
              <a:solidFill>
                <a:srgbClr val="223B70"/>
              </a:solidFill>
              <a:latin typeface="Times New Roman"/>
            </a:endParaRPr>
          </a:p>
        </p:txBody>
      </p:sp>
      <p:pic>
        <p:nvPicPr>
          <p:cNvPr id="34" name="Palett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50000" y="1200000"/>
            <a:ext cx="350000" cy="19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</a:majorFont>
      <a:minorFont>
        <a:latin typeface="Arial"/>
      </a:minorFont>
    </a:fontScheme>
    <a:fmtScheme name="Office">
      <a:fillStyleLst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  <Notes>0</Notes>
  <HiddenSlides>0</HiddenSlides>
  <MMClips>0</MMClips>
  <ScaleCrop>false</ScaleCrop>
  <HeadingPairs>
    <vt:vector size="2" baseType="variant">
      <vt:variant>
        <vt:lpstr>Theme</vt:lpstr>
      </vt:variant>
      <vt:variant>
        <vt:i4>1</vt:i4>
      </vt:variant>
    </vt:vector>
  </HeadingPairs>
  <TitlesOfParts>
    <vt:vector size="1" baseType="lpstr">
      <vt:lpstr>Office Theme</vt:lpstr>
    </vt:vector>
  </TitlesOfParts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Overview Editable Template</dc:title>
  <dc:creator>OpenAI Codex</dc:creator>
  <cp:lastModifiedBy>OpenAI Codex</cp:lastModifiedBy>
  <dcterms:created xsi:type="dcterms:W3CDTF">2026-05-05T05:35:44Z</dcterms:created>
  <dcterms:modified xsi:type="dcterms:W3CDTF">2026-05-05T05:35:44Z</dcterms:modified>
</cp:coreProperties>
</file>